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DISTRICT 04  ·  AI-NATIVE EMR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202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600" b="1" i="0">
                <a:solidFill>
                  <a:srgbClr val="F7F5F1"/>
                </a:solidFill>
                <a:latin typeface="Calibri"/>
              </a:rPr>
              <a:t>AXIOM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5A6372"/>
                </a:solidFill>
                <a:latin typeface="Calibri"/>
              </a:rPr>
              <a:t>An evidence-grounded clinical intelligence layer for electronic medical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343400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227"/>
                </a:solidFill>
                <a:latin typeface="Calibri"/>
              </a:rPr>
              <a:t>"A clinical AI that always answers is unsafe. Ours refuses when the evidence does not support an answer - and we measure how often that happens."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Most clinical AI answers everything.
In a hospital, that is how patients get hurt.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176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7F5F1"/>
                </a:solidFill>
                <a:latin typeface="Calibri"/>
              </a:rPr>
              <a:t>Every model here will hallucinate. </a:t>
            </a:r>
            <a:r>
              <a:rPr sz="1600">
                <a:solidFill>
                  <a:srgbClr val="5A6372"/>
                </a:solidFill>
                <a:latin typeface="Calibri"/>
              </a:rPr>
              <a:t>That is not a defect — it is what they do.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7F5F1"/>
                </a:solidFill>
                <a:latin typeface="Calibri"/>
              </a:rPr>
              <a:t>Nothing separates </a:t>
            </a:r>
            <a:r>
              <a:rPr sz="1600">
                <a:solidFill>
                  <a:srgbClr val="5A6372"/>
                </a:solidFill>
                <a:latin typeface="Calibri"/>
              </a:rPr>
              <a:t>what the record supports from what the model inferred.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7F5F1"/>
                </a:solidFill>
                <a:latin typeface="Calibri"/>
              </a:rPr>
              <a:t>A confident wrong answer </a:t>
            </a:r>
            <a:r>
              <a:rPr sz="1600">
                <a:solidFill>
                  <a:srgbClr val="5A6372"/>
                </a:solidFill>
                <a:latin typeface="Calibri"/>
              </a:rPr>
              <a:t>is indistinguishable from a correct one at the point of care.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F7F5F1"/>
                </a:solidFill>
                <a:latin typeface="Calibri"/>
              </a:rPr>
              <a:t>Absence of documentation </a:t>
            </a:r>
            <a:r>
              <a:rPr sz="1600">
                <a:solidFill>
                  <a:srgbClr val="5A6372"/>
                </a:solidFill>
                <a:latin typeface="Calibri"/>
              </a:rPr>
              <a:t>gets read as absence of disease. It is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26517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C9A227"/>
                </a:solidFill>
                <a:latin typeface="Calibri"/>
              </a:rPr>
              <a:t>The failure is not that the AI is wrong.
It is that you cannot tell when it 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WHAT OURS DOES INSTEAD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THE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A6372"/>
                </a:solidFill>
                <a:latin typeface="Calibri"/>
              </a:rPr>
              <a:t>WHAT OTHER AIs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7F5F1"/>
                </a:solidFill>
                <a:latin typeface="Calibri"/>
              </a:rPr>
              <a:t>"No documented evidence of DVT."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372"/>
                </a:solidFill>
                <a:latin typeface="Calibri"/>
              </a:rPr>
              <a:t>Technically quoted. Clinically read as
"No blood clot."
Measured, not assumed - our own chunk-RAG
baseline returns this verbatim.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227"/>
                </a:solidFill>
                <a:latin typeface="Calibri"/>
              </a:rPr>
              <a:t>WHAT AXIOM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REFUSED.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0332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HTTP 200. Names the missing evidence:
no thromboembolism (I63/I81) documented.
"Absence of documentation is not absence of
the condition."
Routed to chart review. Audited.</a:t>
            </a:r>
          </a:p>
        </p:txBody>
      </p:sp>
      <p:pic>
        <p:nvPicPr>
          <p:cNvPr id="10" name="Picture 9" descr="ui-03-ask-refu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5074920"/>
            <a:ext cx="5029200" cy="56331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Refusal is the feature, not the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Lab reports, discharge summaries,
prescription printouts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A6372"/>
                </a:solidFill>
                <a:latin typeface="Calibri"/>
              </a:rPr>
              <a:t>-&gt;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7889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Deterministic parsers for tables;
the LLM for prose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A6372"/>
                </a:solidFill>
                <a:latin typeface="Calibri"/>
              </a:rPr>
              <a:t>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7889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Time-stamped nodes, typed edges,
provenance to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A6372"/>
                </a:solidFill>
                <a:latin typeface="Calibri"/>
              </a:rPr>
              <a:t>-&gt;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An independent entailment check sees
only the claim and its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2860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A6372"/>
                </a:solidFill>
                <a:latin typeface="Calibri"/>
              </a:rPr>
              <a:t>-&gt;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286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REFUSE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27889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What fails is suppressed. What the
record cannot support is declined.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292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7F5F1"/>
                </a:solidFill>
                <a:latin typeface="Calibri"/>
              </a:rPr>
              <a:t>Suppressed means absent - not greyed out, not footnoted. A refusal returns HTTP 200 with its reason, the missing evidence, and an audit reference.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The model is load-bearing in exactly one place.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456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Parsing a lab table is not an LLM problem. </a:t>
            </a:r>
            <a:r>
              <a:rPr sz="1500">
                <a:solidFill>
                  <a:srgbClr val="5A6372"/>
                </a:solidFill>
                <a:latin typeface="Calibri"/>
              </a:rPr>
              <a:t>A regex reads 'Potassium 5.20 mmol/L 3.50-5.10 H' perfectly. Models do prose; parsers do structure.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Query compilation is the LLM's job. </a:t>
            </a:r>
            <a:r>
              <a:rPr sz="1500">
                <a:solidFill>
                  <a:srgbClr val="5A6372"/>
                </a:solidFill>
                <a:latin typeface="Calibri"/>
              </a:rPr>
              <a:t>Turning 'is his kidney function actually worsening, or is one bad day skewing it?' into a scoped traversal. Thirty tokens of JSON - a small model does this reliably.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Verification and refusal are deterministic. </a:t>
            </a:r>
            <a:r>
              <a:rPr sz="1500">
                <a:solidFill>
                  <a:srgbClr val="5A6372"/>
                </a:solidFill>
                <a:latin typeface="Calibri"/>
              </a:rPr>
              <a:t>Nothing in that path can fail open.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194560"/>
            <a:ext cx="47548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9A227"/>
                </a:solidFill>
                <a:latin typeface="Calibri"/>
              </a:rPr>
              <a:t>Why it matters here:
We run on a free, rate-limited tier. Rather than hide that, we let it push the architecture toward determinism - so a 429 degrades the demo instead of killing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THE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Four questions flat retrieval cannot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852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"What changed since the last visit?"</a:t>
            </a:r>
            <a:r>
              <a:rPr sz="1500">
                <a:solidFill>
                  <a:srgbClr val="5A6372"/>
                </a:solidFill>
                <a:latin typeface="Calibri"/>
              </a:rPr>
              <a:t>  - temporal join across encounters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"Was this already known?"</a:t>
            </a:r>
            <a:r>
              <a:rPr sz="1500">
                <a:solidFill>
                  <a:srgbClr val="5A6372"/>
                </a:solidFill>
                <a:latin typeface="Calibri"/>
              </a:rPr>
              <a:t>  - supersession reasoning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"What is the creatinine trajectory over 18 months?"</a:t>
            </a:r>
            <a:r>
              <a:rPr sz="1500">
                <a:solidFill>
                  <a:srgbClr val="5A6372"/>
                </a:solidFill>
                <a:latin typeface="Calibri"/>
              </a:rPr>
              <a:t>  - series over one analyte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"Which diagnoses have no follow-up?"</a:t>
            </a:r>
            <a:r>
              <a:rPr sz="1500">
                <a:solidFill>
                  <a:srgbClr val="5A6372"/>
                </a:solidFill>
                <a:latin typeface="Calibri"/>
              </a:rPr>
              <a:t>  - an anti-join in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10312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372"/>
                </a:solidFill>
                <a:latin typeface="Calibri"/>
              </a:rPr>
              <a:t>Document chunks have no time in them.
A time-stamped clinical graph does.
We ship a chunk-RAG strawman alongside it - unrigged, TF-IDF, no hedging in the prompt - so the comparison is honest rather than asserted.</a:t>
            </a:r>
          </a:p>
        </p:txBody>
      </p:sp>
      <p:pic>
        <p:nvPicPr>
          <p:cNvPr id="6" name="Picture 5" descr="ui-02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14800"/>
            <a:ext cx="3840480" cy="88186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Every claim resolves to a region of a document.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9456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Every extracted fact keeps </a:t>
            </a:r>
            <a:r>
              <a:rPr sz="1500">
                <a:solidFill>
                  <a:srgbClr val="5A6372"/>
                </a:solidFill>
                <a:latin typeface="Calibri"/>
              </a:rPr>
              <a:t>its source document, page, and character span.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Click any sentence; </a:t>
            </a:r>
            <a:r>
              <a:rPr sz="1500">
                <a:solidFill>
                  <a:srgbClr val="5A6372"/>
                </a:solidFill>
                <a:latin typeface="Calibri"/>
              </a:rPr>
              <a:t>the original PDF opens, scrolled to the line.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7F5F1"/>
                </a:solidFill>
                <a:latin typeface="Calibri"/>
              </a:rPr>
              <a:t>Two clicks, every time. </a:t>
            </a:r>
            <a:r>
              <a:rPr sz="1500">
                <a:solidFill>
                  <a:srgbClr val="5A6372"/>
                </a:solidFill>
                <a:latin typeface="Calibri"/>
              </a:rPr>
              <a:t>A claim without a reachable source is a bug.</a:t>
            </a:r>
          </a:p>
        </p:txBody>
      </p:sp>
      <p:pic>
        <p:nvPicPr>
          <p:cNvPr id="5" name="Picture 4" descr="ui-05-source-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03120"/>
            <a:ext cx="5394960" cy="24285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Measured, with the sweep that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detection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20574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#################################.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057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97.1%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102/105 planted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80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unsupported claim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4780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..................................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47802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4780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0 of 270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citation validity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28986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##################################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89864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100.0%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986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every claim resolves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192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false positive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3192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..................................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3192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19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29 clean patients, 0 spurious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3989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abstention 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373989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##################################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73989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100.0%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7398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6/6 unanswerable refused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1605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negation accuracy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4760" y="41605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##################################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1605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100.0%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120 sentences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58114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alibri"/>
              </a:rPr>
              <a:t>entity resolution F1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94760" y="45811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8C6A"/>
                </a:solidFill>
                <a:latin typeface="Consolas"/>
              </a:rPr>
              <a:t>##################################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811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100.0%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5811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372"/>
                </a:solidFill>
                <a:latin typeface="Calibri"/>
              </a:rPr>
              <a:t>180 negative pairs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Present this curve, not the headline number.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372"/>
                </a:solidFill>
                <a:latin typeface="Calibri"/>
              </a:rPr>
              <a:t>Detection rate under injected noise. Degradation is graceful, not cliff-edged - this is the only figure that predicts real-world behaviour.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onsolas"/>
              </a:rPr>
              <a:t>noise 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743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227"/>
                </a:solidFill>
                <a:latin typeface="Consolas"/>
              </a:rPr>
              <a:t>########################################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743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onsolas"/>
              </a:rPr>
              <a:t>noise 0.25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218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227"/>
                </a:solidFill>
                <a:latin typeface="Consolas"/>
              </a:rPr>
              <a:t>######################################..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21868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0.950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941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onsolas"/>
              </a:rPr>
              <a:t>noise 0.50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69417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227"/>
                </a:solidFill>
                <a:latin typeface="Consolas"/>
              </a:rPr>
              <a:t>######################################..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69417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0.950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69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onsolas"/>
              </a:rPr>
              <a:t>noise 0.75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16966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227"/>
                </a:solidFill>
                <a:latin typeface="Consolas"/>
              </a:rPr>
              <a:t>#####################################...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16966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0.925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45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7F5F1"/>
                </a:solidFill>
                <a:latin typeface="Consolas"/>
              </a:rPr>
              <a:t>noise 1.00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64515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227"/>
                </a:solidFill>
                <a:latin typeface="Consolas"/>
              </a:rPr>
              <a:t>###################################.....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451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7F5F1"/>
                </a:solidFill>
                <a:latin typeface="Calibri"/>
              </a:rPr>
              <a:t>0.875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7F5F1"/>
                </a:solidFill>
                <a:latin typeface="Calibri"/>
              </a:rPr>
              <a:t>Where this breaks.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F7F5F1"/>
                </a:solidFill>
                <a:latin typeface="Calibri"/>
              </a:rPr>
              <a:t>The verifier is rule-based, not a model. </a:t>
            </a:r>
            <a:r>
              <a:rPr sz="1300">
                <a:solidFill>
                  <a:srgbClr val="5A6372"/>
                </a:solidFill>
                <a:latin typeface="Calibri"/>
              </a:rPr>
              <a:t>An LLM verifier would score materially lower. We say so first.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7F5F1"/>
                </a:solidFill>
                <a:latin typeface="Calibri"/>
              </a:rPr>
              <a:t>All clinical data is self-generated. </a:t>
            </a:r>
            <a:r>
              <a:rPr sz="1300">
                <a:solidFill>
                  <a:srgbClr val="5A6372"/>
                </a:solidFill>
                <a:latin typeface="Calibri"/>
              </a:rPr>
              <a:t>We wrote both the records and the answer key; recall measures our pipeline against our own assumptions.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7F5F1"/>
                </a:solidFill>
                <a:latin typeface="Calibri"/>
              </a:rPr>
              <a:t>Ingestion is fully automatic. </a:t>
            </a:r>
            <a:r>
              <a:rPr sz="1300">
                <a:solidFill>
                  <a:srgbClr val="5A6372"/>
                </a:solidFill>
                <a:latin typeface="Calibri"/>
              </a:rPr>
              <a:t>Nothing is clinician-confirmed. A mislabelled value becomes a permanent node.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7F5F1"/>
                </a:solidFill>
                <a:latin typeface="Calibri"/>
              </a:rPr>
              <a:t>We do not touch real PHI. </a:t>
            </a:r>
            <a:r>
              <a:rPr sz="1300">
                <a:solidFill>
                  <a:srgbClr val="5A6372"/>
                </a:solidFill>
                <a:latin typeface="Calibri"/>
              </a:rPr>
              <a:t>MIMIC-IV on PhysioNet is the legitimate route; scraping is not.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7F5F1"/>
                </a:solidFill>
                <a:latin typeface="Calibri"/>
              </a:rPr>
              <a:t>Entity-resolution margin is thin (0.015). </a:t>
            </a:r>
            <a:r>
              <a:rPr sz="1300">
                <a:solidFill>
                  <a:srgbClr val="5A6372"/>
                </a:solidFill>
                <a:latin typeface="Calibri"/>
              </a:rPr>
              <a:t>Real data would need calibration and human review.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9A227"/>
                </a:solidFill>
                <a:latin typeface="Calibri"/>
              </a:rPr>
              <a:t>Publishing these is the point.
A team that volunteers the number it missed is demonstrating more engineering maturity than one that reports only wins - and it is the only way the rest of the numbers are believable.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IN ONE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F7F5F1"/>
                </a:solidFill>
                <a:latin typeface="Calibri"/>
              </a:rPr>
              <a:t>Every AI on this floor will hallucinate.
We built the one that catches itself - and we can prove it live, on demand.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4114800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3891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A6372"/>
                </a:solidFill>
                <a:latin typeface="Calibri"/>
              </a:rPr>
              <a:t>AXIOM does not diagnose and does not prescribe.
It surfaces evidence and reasoning to a licensed clinician who decides. That boundary is permanent chrome in the product, not a dismissible banner.</a:t>
            </a:r>
          </a:p>
        </p:txBody>
      </p:sp>
      <p:pic>
        <p:nvPicPr>
          <p:cNvPr id="6" name="Picture 5" descr="ui-04-ask-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206240"/>
            <a:ext cx="3566160" cy="31064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