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9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04  ·  AI-NATIVE EMR FOR INTELLIGENT CLINICAL ASSISTANCE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spc="1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</a:t>
            </a:r>
            <a:endParaRPr lang="en-US" sz="820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1828800" cy="4572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evidence-grounded clinical intelligence layer.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cited. Anything we cannot verify does not appear.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343400"/>
            <a:ext cx="10424160" cy="960120"/>
          </a:xfrm>
          <a:prstGeom prst="rect">
            <a:avLst/>
          </a:prstGeom>
          <a:solidFill>
            <a:srgbClr val="262626"/>
          </a:solidFill>
          <a:ln w="9525">
            <a:solidFill>
              <a:srgbClr val="C890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343400"/>
            <a:ext cx="64008" cy="96012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4074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AI THAT ALWAYS ANSWERS IS UNSAFE.
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REFUSES WHEN THE EVIDENCE DOES NOT SUPPORT AN ANSWER.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synthetic data · No real PHI · Clinician-assist only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is complete, and functionally invisible.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EMRs were built to store and bill, not to think. A physician preparing for rounds reconstructs that history by hand — every patient, every time. Three things go wrong during that reconstruction.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383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97480"/>
            <a:ext cx="45720" cy="2240280"/>
          </a:xfrm>
          <a:prstGeom prst="rect">
            <a:avLst/>
          </a:prstGeom>
          <a:solidFill>
            <a:srgbClr val="8C1D1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GET MISSED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4747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were four encounters ago, in a record designed for billing, not for care.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2697480"/>
            <a:ext cx="3383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697480"/>
            <a:ext cx="45720" cy="2240280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PERSIST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81144" y="34747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nobody has both records in front of them at once.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0144" y="2697480"/>
            <a:ext cx="33832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2697480"/>
            <a:ext cx="45720" cy="22402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UNFOUNDED INFERENCES CREEP 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66176" y="34747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humans pattern-match too, and a plausible story assembled from partial evidence feels exactly like a supported 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777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257800"/>
            <a:ext cx="54864" cy="77724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035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generation without verification. Every AI-on-EMR project trusts its own fluent output.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is worth solving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everyone else will build.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box over the record, asking "what are this patient's conditions?" It reads well. It is also frequently wrong in ways nobody can detect — because nothing separates what the record supports from what the model inferred.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51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timeline summary generated in one pass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5295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every question, confidently, always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416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0416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by embedding similarity over flat chunks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53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5537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analysis, no false-positive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0657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50657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notion of its own uncertainty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no way to check 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980944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980944"/>
            <a:ext cx="45720" cy="4389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93408" y="3017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atomised claim set — each claim independently verified and cited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3493008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493008"/>
            <a:ext cx="45720" cy="4389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35295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93408" y="352958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when the record cannot support an answer, and says why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005072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4005072"/>
            <a:ext cx="45720" cy="4389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0416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93408" y="40416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retrieval over a normalised, coded, temporal clinical graph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4517136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517136"/>
            <a:ext cx="45720" cy="4389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4553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93408" y="45537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with planted findings and hand-labelled negatives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5029200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5029200"/>
            <a:ext cx="45720" cy="4389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50657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93408" y="50657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with per-claim-type thresholds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09360" y="5541264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5541264"/>
            <a:ext cx="45720" cy="4389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5577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93408" y="5577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its source resolvable in two clicks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5961888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plausible-sounding unverified sentence is more dangerous than a missing one — it reads with the same authority.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decision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layers. Verification is structural.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881360" cy="484632"/>
          </a:xfrm>
          <a:prstGeom prst="rect">
            <a:avLst/>
          </a:prstGeom>
          <a:solidFill>
            <a:srgbClr val="EEF3F9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45720" cy="48463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EHR generator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173736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findings of known severity and timestamp — the answer key.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469880" y="1874520"/>
            <a:ext cx="914400" cy="21031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9880" y="187452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10881360" cy="484632"/>
          </a:xfrm>
          <a:prstGeom prst="rect">
            <a:avLst/>
          </a:prstGeom>
          <a:solidFill>
            <a:srgbClr val="F6F1E3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286000"/>
            <a:ext cx="45720" cy="48463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8600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28600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normalisation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43400" y="228600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ICD-10/RxNorm mapping, negation detection.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469880" y="2423160"/>
            <a:ext cx="914400" cy="21031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469880" y="242316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10881360" cy="484632"/>
          </a:xfrm>
          <a:prstGeom prst="rect">
            <a:avLst/>
          </a:prstGeom>
          <a:solidFill>
            <a:srgbClr val="F6F1E3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834640"/>
            <a:ext cx="45720" cy="48463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83464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283464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entity resolution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283464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across source systems; blocking + weighted scoring.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469880" y="2971800"/>
            <a:ext cx="914400" cy="21031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9880" y="297180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" y="3383280"/>
            <a:ext cx="10881360" cy="484632"/>
          </a:xfrm>
          <a:prstGeom prst="rect">
            <a:avLst/>
          </a:prstGeom>
          <a:solidFill>
            <a:srgbClr val="F6F1E3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383280"/>
            <a:ext cx="45720" cy="48463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38328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338328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clinical graph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343400" y="338328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 nodes, typed edges: precedes, supersedes, contraindicated.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469880" y="3520440"/>
            <a:ext cx="914400" cy="21031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33" name="Text 31"/>
          <p:cNvSpPr/>
          <p:nvPr/>
        </p:nvSpPr>
        <p:spPr>
          <a:xfrm>
            <a:off x="10469880" y="352044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3931920"/>
            <a:ext cx="10881360" cy="484632"/>
          </a:xfrm>
          <a:prstGeom prst="rect">
            <a:avLst/>
          </a:prstGeom>
          <a:solidFill>
            <a:srgbClr val="F6F1E3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931920"/>
            <a:ext cx="45720" cy="48463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93192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393192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temporal retrieval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343400" y="393192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traversals first. Semantic search only inside the subgraph.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469880" y="4069080"/>
            <a:ext cx="914400" cy="21031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9880" y="406908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4480560"/>
            <a:ext cx="10881360" cy="484632"/>
          </a:xfrm>
          <a:prstGeom prst="rect">
            <a:avLst/>
          </a:prstGeom>
          <a:solidFill>
            <a:srgbClr val="EEF3F9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480560"/>
            <a:ext cx="45720" cy="48463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448056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34440" y="448056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claim generation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343400" y="448056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claims + independent entailment check. The core.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469880" y="4617720"/>
            <a:ext cx="914400" cy="21031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7" name="Text 45"/>
          <p:cNvSpPr/>
          <p:nvPr/>
        </p:nvSpPr>
        <p:spPr>
          <a:xfrm>
            <a:off x="10469880" y="461772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" y="5029200"/>
            <a:ext cx="10881360" cy="484632"/>
          </a:xfrm>
          <a:prstGeom prst="rect">
            <a:avLst/>
          </a:prstGeom>
          <a:solidFill>
            <a:srgbClr val="F6F1E3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5029200"/>
            <a:ext cx="45720" cy="48463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502920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34440" y="502920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abstention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343400" y="502920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calibration, per-claim-type thresholds, escalation routing.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469880" y="5166360"/>
            <a:ext cx="914400" cy="21031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54" name="Text 52"/>
          <p:cNvSpPr/>
          <p:nvPr/>
        </p:nvSpPr>
        <p:spPr>
          <a:xfrm>
            <a:off x="10469880" y="516636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40080" y="5577840"/>
            <a:ext cx="10881360" cy="484632"/>
          </a:xfrm>
          <a:prstGeom prst="rect">
            <a:avLst/>
          </a:prstGeom>
          <a:solidFill>
            <a:srgbClr val="F6F1E3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" y="5577840"/>
            <a:ext cx="45720" cy="48463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5577840"/>
            <a:ext cx="3657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234440" y="5577840"/>
            <a:ext cx="30175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provenance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4343400" y="557784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resolves to source in two clicks.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469880" y="5715000"/>
            <a:ext cx="914400" cy="210312"/>
          </a:xfrm>
          <a:prstGeom prst="rect">
            <a:avLst/>
          </a:prstGeom>
          <a:solidFill>
            <a:srgbClr val="8A6314"/>
          </a:solidFill>
          <a:ln/>
        </p:spPr>
      </p:sp>
      <p:sp>
        <p:nvSpPr>
          <p:cNvPr id="61" name="Text 59"/>
          <p:cNvSpPr/>
          <p:nvPr/>
        </p:nvSpPr>
        <p:spPr>
          <a:xfrm>
            <a:off x="10469880" y="5715000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0080" y="619963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3–5 are what a vector-RAG build structurally cannot do.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spine, eight layers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retrieve documents. We query a graph.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is the idea to talk about on stage. Every node is time-stamped, every edge is typed. These four questions are not expressible over flat document chunks — a vector store cannot answer them at 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97480"/>
            <a:ext cx="45720" cy="62179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changed since the last visit?"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69748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join across encounters, not a similarity search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10712"/>
            <a:ext cx="45720" cy="62179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10712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this already known?"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41071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supersession and assertion-time reasoning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23944"/>
            <a:ext cx="45720" cy="62179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23944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creatinine trajectory over 18 months?"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12394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query over one coded analyte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37176"/>
            <a:ext cx="10881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37176"/>
            <a:ext cx="45720" cy="62179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37176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diagnoses have no follow-up?"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83717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anti-join in time — genuinely impossible over chunks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669280"/>
            <a:ext cx="10881360" cy="621792"/>
          </a:xfrm>
          <a:prstGeom prst="rect">
            <a:avLst/>
          </a:prstGeom>
          <a:solidFill>
            <a:srgbClr val="EEF3F9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687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layer is why our answers are citable when a chunk-based system's are not.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temporal clinical graph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verified. Then checked again.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502920" cy="9144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40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 EMISSION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emits discrete, independently verifiable claims. Each carries the node IDs it rests 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34640"/>
            <a:ext cx="502920" cy="914400"/>
          </a:xfrm>
          <a:prstGeom prst="rect">
            <a:avLst/>
          </a:prstGeom>
          <a:solidFill>
            <a:srgbClr val="8C1D1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40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ENTAILMENT CHECK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3236976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verifier sees only the claim and its evidence — not the rationale, not the full record. It returns entailed, contradicted, or insufficient.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86200"/>
            <a:ext cx="502920" cy="914400"/>
          </a:xfrm>
          <a:prstGeom prst="rect">
            <a:avLst/>
          </a:prstGeom>
          <a:solidFill>
            <a:srgbClr val="8C1D1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99592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40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71600" y="4288536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 → removed and logged. Insufficient → marked or removed. A claim that cannot be verified does not appear.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37760"/>
            <a:ext cx="502920" cy="9144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377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504748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4000" kern="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VALIDATION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71600" y="5340096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also a model call, so we hand-label a claim set and report its accuracy. Shipping it unvalidated would repeat the exact error we criticise.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solidFill>
            <a:srgbClr val="8C1D18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998464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verifier that sees the generator's reasoning inherits its blind spots. Ours does not.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— verified claim generation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when not to answer.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is the feature nobody else will build, because it looks like hedging until you demonstrate it is calibrated. Ours is fitted on a held-out set and measured.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BY CLAIM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212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34640"/>
            <a:ext cx="45720" cy="49377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/ allergy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2834640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834640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5212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01568"/>
            <a:ext cx="45720" cy="49377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40156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401568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968496"/>
            <a:ext cx="5212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68496"/>
            <a:ext cx="45720" cy="49377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396849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trend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3968496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535424"/>
            <a:ext cx="5212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535424"/>
            <a:ext cx="45720" cy="49377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453542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4535424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97680" y="4535424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4688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 WHEN IT REFUSES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834640"/>
            <a:ext cx="5212080" cy="493776"/>
          </a:xfrm>
          <a:prstGeom prst="rect">
            <a:avLst/>
          </a:prstGeom>
          <a:solidFill>
            <a:srgbClr val="F4F2EC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834640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834640"/>
            <a:ext cx="4617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patient's blood type?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401568"/>
            <a:ext cx="5212080" cy="493776"/>
          </a:xfrm>
          <a:prstGeom prst="rect">
            <a:avLst/>
          </a:prstGeom>
          <a:solidFill>
            <a:srgbClr val="EEF3F9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401568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401568"/>
            <a:ext cx="4617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no blood-bank resource exists in this record schema.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3968496"/>
            <a:ext cx="5212080" cy="493776"/>
          </a:xfrm>
          <a:prstGeom prst="rect">
            <a:avLst/>
          </a:prstGeom>
          <a:solidFill>
            <a:srgbClr val="EEF3F9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968496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3968496"/>
            <a:ext cx="4617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to: records request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577840"/>
            <a:ext cx="54864" cy="68580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605272"/>
            <a:ext cx="103327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here are asymmetric. A missing answer costs the clinician one minute. A confident wrong answer about a drug interaction can reach a patient.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— calibrated abstention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planted the findings. Here is what we caught.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record carries findings of known type, severity and timestamp. This is the answer key — it lets a judge check our work instead of taking our word for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383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68880"/>
            <a:ext cx="338328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6334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28712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96112" y="332841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of 105 planted findings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5112" y="2468880"/>
            <a:ext cx="3383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2468880"/>
            <a:ext cx="338328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26334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CLAIMS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81144" y="28712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81144" y="332841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270 claims failed verification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10144" y="2468880"/>
            <a:ext cx="3383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2468880"/>
            <a:ext cx="338328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26334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66176" y="28712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66176" y="332841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resolves to a real 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767328"/>
            <a:ext cx="3383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67328"/>
            <a:ext cx="338328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9319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6112" y="416966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96112" y="462686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clean patients, 0 spurious findings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25112" y="3767328"/>
            <a:ext cx="3383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5112" y="3767328"/>
            <a:ext cx="338328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29" name="Text 27"/>
          <p:cNvSpPr/>
          <p:nvPr/>
        </p:nvSpPr>
        <p:spPr>
          <a:xfrm>
            <a:off x="4581144" y="39319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RECALL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81144" y="416966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581144" y="462686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 unanswerable questions refused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3767328"/>
            <a:ext cx="3383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0144" y="3767328"/>
            <a:ext cx="338328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4" name="Text 32"/>
          <p:cNvSpPr/>
          <p:nvPr/>
        </p:nvSpPr>
        <p:spPr>
          <a:xfrm>
            <a:off x="8266176" y="393192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ACCURACY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66176" y="416966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266176" y="462686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"denies" never became "has"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5138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0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DEGRADED DATA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54864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0.00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572768" y="5513832"/>
            <a:ext cx="4206240" cy="1188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0" name="Text 38"/>
          <p:cNvSpPr/>
          <p:nvPr/>
        </p:nvSpPr>
        <p:spPr>
          <a:xfrm>
            <a:off x="5833872" y="54864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0080" y="56692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0.25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572768" y="5696712"/>
            <a:ext cx="3995928" cy="1188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3" name="Text 41"/>
          <p:cNvSpPr/>
          <p:nvPr/>
        </p:nvSpPr>
        <p:spPr>
          <a:xfrm>
            <a:off x="5623560" y="56692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0080" y="585216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0.50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572768" y="5879592"/>
            <a:ext cx="3995928" cy="1188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6" name="Text 44"/>
          <p:cNvSpPr/>
          <p:nvPr/>
        </p:nvSpPr>
        <p:spPr>
          <a:xfrm>
            <a:off x="5623560" y="58521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0080" y="60350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0.75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572768" y="6062472"/>
            <a:ext cx="3890772" cy="1188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9" name="Text 47"/>
          <p:cNvSpPr/>
          <p:nvPr/>
        </p:nvSpPr>
        <p:spPr>
          <a:xfrm>
            <a:off x="5518404" y="6035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" y="62179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1.00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572768" y="6245352"/>
            <a:ext cx="3680460" cy="1188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2" name="Text 50"/>
          <p:cNvSpPr/>
          <p:nvPr/>
        </p:nvSpPr>
        <p:spPr>
          <a:xfrm>
            <a:off x="5308092" y="621792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09360" y="5138928"/>
            <a:ext cx="5212080" cy="1170432"/>
          </a:xfrm>
          <a:prstGeom prst="rect">
            <a:avLst/>
          </a:prstGeom>
          <a:solidFill>
            <a:srgbClr val="FDF2F0"/>
          </a:solidFill>
          <a:ln w="12700">
            <a:solidFill>
              <a:srgbClr val="E8D8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5138928"/>
            <a:ext cx="45720" cy="1170432"/>
          </a:xfrm>
          <a:prstGeom prst="rect">
            <a:avLst/>
          </a:prstGeom>
          <a:solidFill>
            <a:srgbClr val="8C1D18"/>
          </a:solidFill>
          <a:ln/>
        </p:spPr>
      </p:sp>
      <p:sp>
        <p:nvSpPr>
          <p:cNvPr id="55" name="Text 53"/>
          <p:cNvSpPr/>
          <p:nvPr/>
        </p:nvSpPr>
        <p:spPr>
          <a:xfrm>
            <a:off x="6537960" y="52852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THIS HONESTLY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37960" y="55412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rule-based and the data is self-authored, so these are a working baseline, not a performance claim. Show the sweep, not the headline.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reproducible, synthetic, no PHI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90-SECOND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No dead air.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5564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755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items in the attention queue that actually warrant attention.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10881360" cy="7315"/>
          </a:xfrm>
          <a:prstGeom prst="rect">
            <a:avLst/>
          </a:prstGeom>
          <a:solidFill>
            <a:srgbClr val="E4DFD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2257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3225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3225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top finding. Citation resolves to the exact node; the trend is visible across five months.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10881360" cy="7315"/>
          </a:xfrm>
          <a:prstGeom prst="rect">
            <a:avLst/>
          </a:prstGeom>
          <a:solidFill>
            <a:srgbClr val="E4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95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8895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889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sign the kidney function is worsening?" Answered from the graph, cited, verified.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346704"/>
            <a:ext cx="10881360" cy="7315"/>
          </a:xfrm>
          <a:prstGeom prst="rect">
            <a:avLst/>
          </a:prstGeom>
          <a:solidFill>
            <a:srgbClr val="E4DFD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564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something the record cannot answer. It refuses, names what is missing, routes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913632"/>
            <a:ext cx="10881360" cy="7315"/>
          </a:xfrm>
          <a:prstGeom prst="rect">
            <a:avLst/>
          </a:prstGeom>
          <a:solidFill>
            <a:srgbClr val="E4DFD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4023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panel: detection rate, unsupported claims, abstention accuracy — and the one we missed.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10881360" cy="7315"/>
          </a:xfrm>
          <a:prstGeom prst="rect">
            <a:avLst/>
          </a:prstGeom>
          <a:solidFill>
            <a:srgbClr val="E4DFD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902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0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45902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drawer on any claim. Full provenance to source nodes. Nothing hidden.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047488"/>
            <a:ext cx="10881360" cy="7315"/>
          </a:xfrm>
          <a:prstGeom prst="rect">
            <a:avLst/>
          </a:prstGeom>
          <a:solidFill>
            <a:srgbClr val="E4DFD2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solidFill>
            <a:srgbClr val="EEF3F9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0" kern="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 IS THE MOMENT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5705856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will show confident answers. We show the system refusing — and being right to. That is the beat judges remember.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three times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CALLS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we expect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1280160" cy="4114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45720" cy="100584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6479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just RAG with extra steps."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10332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returns similar text. We answer questions that need temporal joins across encounters — what changed, what has no follow-up, what is a deteriorating trend over months. Those are graph queries; a chunk store cannot express them. We can show you a question that breaks our own retrieval.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07208"/>
            <a:ext cx="45720" cy="100584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803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"Abstaining is a cop-out."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145536"/>
            <a:ext cx="10332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domain the failure modes are asymmetric. A missing answer costs one more minute; a confident wrong answer about a drug interaction can reach a patient. And we are measured on whether refusals were correct — so it is calibrated behaviour, not evasion.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22776"/>
            <a:ext cx="45720" cy="100584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95928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verifier is also a model."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261104"/>
            <a:ext cx="10332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Agreed, which is why we validate it against a hand-labelled claim set and report its accuracy. Shipping an unvalidated verifier would be the exact error we criticise in everyone else. Discount our numbers accordingly — and here they are.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038344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038344"/>
            <a:ext cx="45720" cy="1005840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about real patient data?"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376672"/>
            <a:ext cx="10332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nothing to breach. Every record is generated by a pipeline we can show you. No real PHI enters the system at any stage, which is why our whole benchmark is reproducible by anyone who wants to check it.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diagnose and we do not prescribe. Read-only, clinician decides, boundary visible on every screen.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55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and answered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0" y="6455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6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 ·  DISTRICT 04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315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3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207008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EMRs were built to store and bill.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built the part that thinks.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971800"/>
            <a:ext cx="5029200" cy="987552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971800"/>
            <a:ext cx="45720" cy="987552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081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33558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reconstruction is hours of clinician time, every day, on a record that already contains the answer.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971800"/>
            <a:ext cx="5029200" cy="987552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971800"/>
            <a:ext cx="45720" cy="987552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081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OURS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33558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clinical graph and a verification pipeline — not a summarisation wrapper.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142232"/>
            <a:ext cx="5029200" cy="987552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142232"/>
            <a:ext cx="45720" cy="987552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51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IS OURS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ground truth and a published benchmark. Judges can check our work instead of trusting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142232"/>
            <a:ext cx="5029200" cy="987552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4142232"/>
            <a:ext cx="45720" cy="987552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51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00" kern="0" dirty="0">
                <a:solidFill>
                  <a:srgbClr val="C89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 CLAIM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refuse when the record cannot support an answer — and we measure how often that refusal was right.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468112"/>
            <a:ext cx="10424160" cy="621792"/>
          </a:xfrm>
          <a:prstGeom prst="rect">
            <a:avLst/>
          </a:prstGeom>
          <a:solidFill>
            <a:srgbClr val="C8901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486400"/>
            <a:ext cx="9966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cited. Anything we cannot verify does not appear.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630936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especially "isn't this just RAG with extra steps?"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District 04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 — AI-Native EMR for Intelligent Clinical Assistance</dc:title>
  <dc:subject>PptxGenJS Presentation</dc:subject>
  <dc:creator>Hackathon Strategy</dc:creator>
  <cp:lastModifiedBy>Hackathon Strategy</cp:lastModifiedBy>
  <cp:revision>1</cp:revision>
  <dcterms:created xsi:type="dcterms:W3CDTF">2026-10-07T06:43:58Z</dcterms:created>
  <dcterms:modified xsi:type="dcterms:W3CDTF">2026-10-07T06:43:58Z</dcterms:modified>
</cp:coreProperties>
</file>